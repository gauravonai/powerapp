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deck" id="{34f04348-8818-8a01-71e8-bfb703f8167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ppendix" id="{7a440b6a-f6c7-d24c-3991-b4600c60286f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 will show every page of the new portal and exactly what happens on each click, using real lab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new to install; it opens in the browser or Teams with the company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flow management asked for. The next slides walk through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screen for everyone. The version number bottom right tells us which build is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simple on purpose: username and password, self-service password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refreshes itself every 2 minutes; the green pill shows the last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hand is calculated from every stock movement, so it cannot drift from the store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straight from the harness BOM in Excel. New Part means the lab has never stocked it; that is different from out of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fields are checked before saving; nothing is half-saved.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green banner confirms REQ-... is with the store as soon as it is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 sees exactly the same numbers the store sees,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login page; the role decides which dashboard and menu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ends here. Release, invoice and procurement are already built: see the next slides and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pages are built and tested; they roll out after Phase 1. Each one is in the appendix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the app. Ask me to open any one; the appendix has a slide per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Use the appendix only when someone asks about a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only. Jump to the page someone asks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Pending people cannot log in until the Lab Admin gives them a role in Team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after Forgot Password? or when the Password cell is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Reachable from the login page, before logging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request from every engineer, in one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418 active parts in the current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more than is physically in store is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on hand is calculated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 on the last 12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the separate Excel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approval also shows on the Manager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formula is finance-locked; only the inputs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new invoice can never reuse an existing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 are read-only; finance owns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sees the same stages on the Manager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purchase row per part and request, so receipts go to the right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Seats used against seats bought.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Pending registrations show here for a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Read-only picture of the whole lab, plus the approvals that need a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Admin-only; ordinary users never see this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layout as the Excel job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20002"/>
            <a:ext cx="11277295" cy="0"/>
          </a:xfrm>
          <a:prstGeom prst="line">
            <a:avLst/>
          </a:prstGeom>
          <a:noFill/>
          <a:ln w="9525">
            <a:solidFill>
              <a:srgbClr val="E6E4DF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CB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4" Type="http://schemas.openxmlformats.org/officeDocument/2006/relationships/slide" Target="slide23.xml"/><Relationship Id="rId6" Type="http://schemas.openxmlformats.org/officeDocument/2006/relationships/slide" Target="slide24.xml"/><Relationship Id="rId8" Type="http://schemas.openxmlformats.org/officeDocument/2006/relationships/slide" Target="slide25.xml"/><Relationship Id="rId10" Type="http://schemas.openxmlformats.org/officeDocument/2006/relationships/slide" Target="slide26.xml"/><Relationship Id="rId12" Type="http://schemas.openxmlformats.org/officeDocument/2006/relationships/slide" Target="slide27.xml"/><Relationship Id="rId1" Type="http://schemas.openxmlformats.org/officeDocument/2006/relationships/image" Target="../media/image-14-1.jpeg"/><Relationship Id="rId3" Type="http://schemas.openxmlformats.org/officeDocument/2006/relationships/image" Target="../media/image-14-2.jpeg"/><Relationship Id="rId5" Type="http://schemas.openxmlformats.org/officeDocument/2006/relationships/image" Target="../media/image-14-3.jpeg"/><Relationship Id="rId7" Type="http://schemas.openxmlformats.org/officeDocument/2006/relationships/image" Target="../media/image-14-4.jpeg"/><Relationship Id="rId9" Type="http://schemas.openxmlformats.org/officeDocument/2006/relationships/image" Target="../media/image-14-5.jpeg"/><Relationship Id="rId11" Type="http://schemas.openxmlformats.org/officeDocument/2006/relationships/image" Target="../media/image-14-6.jpe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4" Type="http://schemas.openxmlformats.org/officeDocument/2006/relationships/slide" Target="slide29.xml"/><Relationship Id="rId6" Type="http://schemas.openxmlformats.org/officeDocument/2006/relationships/slide" Target="slide30.xml"/><Relationship Id="rId8" Type="http://schemas.openxmlformats.org/officeDocument/2006/relationships/slide" Target="slide31.xml"/><Relationship Id="rId10" Type="http://schemas.openxmlformats.org/officeDocument/2006/relationships/slide" Target="slide32.xml"/><Relationship Id="rId12" Type="http://schemas.openxmlformats.org/officeDocument/2006/relationships/slide" Target="slide33.xml"/><Relationship Id="rId14" Type="http://schemas.openxmlformats.org/officeDocument/2006/relationships/slide" Target="slide34.xml"/><Relationship Id="rId16" Type="http://schemas.openxmlformats.org/officeDocument/2006/relationships/slide" Target="slide35.xml"/><Relationship Id="rId18" Type="http://schemas.openxmlformats.org/officeDocument/2006/relationships/slide" Target="slide20.xml"/><Relationship Id="rId1" Type="http://schemas.openxmlformats.org/officeDocument/2006/relationships/image" Target="../media/image-15-1.jpeg"/><Relationship Id="rId3" Type="http://schemas.openxmlformats.org/officeDocument/2006/relationships/image" Target="../media/image-15-2.jpeg"/><Relationship Id="rId5" Type="http://schemas.openxmlformats.org/officeDocument/2006/relationships/image" Target="../media/image-15-3.jpeg"/><Relationship Id="rId7" Type="http://schemas.openxmlformats.org/officeDocument/2006/relationships/image" Target="../media/image-15-4.jpeg"/><Relationship Id="rId9" Type="http://schemas.openxmlformats.org/officeDocument/2006/relationships/image" Target="../media/image-15-5.jpeg"/><Relationship Id="rId11" Type="http://schemas.openxmlformats.org/officeDocument/2006/relationships/image" Target="../media/image-15-6.jpeg"/><Relationship Id="rId13" Type="http://schemas.openxmlformats.org/officeDocument/2006/relationships/image" Target="../media/image-15-7.jpeg"/><Relationship Id="rId15" Type="http://schemas.openxmlformats.org/officeDocument/2006/relationships/image" Target="../media/image-15-8.jpeg"/><Relationship Id="rId17" Type="http://schemas.openxmlformats.org/officeDocument/2006/relationships/image" Target="../media/image-15-9.jpe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" Target="slide19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33.xml"/><Relationship Id="rId17" Type="http://schemas.openxmlformats.org/officeDocument/2006/relationships/slide" Target="slide34.xml"/><Relationship Id="rId18" Type="http://schemas.openxmlformats.org/officeDocument/2006/relationships/slide" Target="slide35.xml"/><Relationship Id="rId19" Type="http://schemas.openxmlformats.org/officeDocument/2006/relationships/slide" Target="slide36.xml"/><Relationship Id="rId20" Type="http://schemas.openxmlformats.org/officeDocument/2006/relationships/slide" Target="slide37.xml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x patter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00100" y="2381098"/>
            <a:ext cx="10953598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EDS LAB MATERIAL PORTAL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838505" y="3543300"/>
            <a:ext cx="9525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PHASE 1 WALKTHROUGH · ENGINEER TO LAB ADMIN</a:t>
            </a:r>
            <a:endParaRPr lang="en-US" sz="2100" dirty="0"/>
          </a:p>
        </p:txBody>
      </p:sp>
      <p:sp>
        <p:nvSpPr>
          <p:cNvPr id="5" name="Presenter"/>
          <p:cNvSpPr txBox="1"/>
          <p:nvPr/>
        </p:nvSpPr>
        <p:spPr>
          <a:xfrm>
            <a:off x="838505" y="6086246"/>
            <a:ext cx="3314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 Shelke · EDS Lab, Pune</a:t>
            </a:r>
            <a:endParaRPr lang="en-US" sz="1500" dirty="0"/>
          </a:p>
        </p:txBody>
      </p:sp>
      <p:sp>
        <p:nvSpPr>
          <p:cNvPr id="6" name="Date"/>
          <p:cNvSpPr txBox="1"/>
          <p:nvPr/>
        </p:nvSpPr>
        <p:spPr>
          <a:xfrm>
            <a:off x="4247388" y="6086246"/>
            <a:ext cx="1726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500" dirty="0"/>
          </a:p>
        </p:txBody>
      </p:sp>
      <p:sp>
        <p:nvSpPr>
          <p:cNvPr id="7" name="JCB logo"/>
          <p:cNvSpPr/>
          <p:nvPr/>
        </p:nvSpPr>
        <p:spPr>
          <a:xfrm>
            <a:off x="10105949" y="5734202"/>
            <a:ext cx="1419149" cy="705002"/>
          </a:xfrm>
          <a:prstGeom prst="roundRect">
            <a:avLst>
              <a:gd name="adj" fmla="val 10376"/>
            </a:avLst>
          </a:prstGeom>
          <a:solidFill>
            <a:srgbClr val="11111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JCB logo square"/>
          <p:cNvSpPr/>
          <p:nvPr/>
        </p:nvSpPr>
        <p:spPr>
          <a:xfrm>
            <a:off x="10220249" y="5848502"/>
            <a:ext cx="152705" cy="152705"/>
          </a:xfrm>
          <a:prstGeom prst="rect">
            <a:avLst/>
          </a:prstGeom>
          <a:solidFill>
            <a:srgbClr val="FCB02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JCB logo text"/>
          <p:cNvSpPr txBox="1"/>
          <p:nvPr/>
        </p:nvSpPr>
        <p:spPr>
          <a:xfrm>
            <a:off x="10429646" y="5734202"/>
            <a:ext cx="1057046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Lab Material Portal · Phase 1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THE ANSWER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WE BUILT IT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399946"/>
            <a:ext cx="544799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TODAY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57200" y="1772107"/>
            <a:ext cx="544799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00707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002" y="1923898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checked by hand in the Excel sheet.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373782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5002" y="2296973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BOMs compared with stock line by line.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746858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5002" y="2670962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by mail or word of mouth; no status for the engineer.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119933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5002" y="3044038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sees at a glance what is short and what is on order.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86500" y="1399946"/>
            <a:ext cx="544799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WITH THE PORTAL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286500" y="1772107"/>
            <a:ext cx="544799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6500" y="2000707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4302" y="1923898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 live stock, calculated from every movement.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86500" y="2373782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4302" y="2296973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BOM and see the gaps in seconds.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86500" y="2746858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4302" y="2670962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tracked from submission to release.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86500" y="3119933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4302" y="3044038"/>
            <a:ext cx="5201107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sees only its own pages: Engineer, Lab Admin, Lab Lead, Manager.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" y="3942893"/>
            <a:ext cx="11277295" cy="4800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42893"/>
            <a:ext cx="75895" cy="48006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5002" y="3942893"/>
            <a:ext cx="1089690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Power Apps on the lab's existing workbook. No new licence, no server; opens in the browser or Teams.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Lab Material Portal · Phase 1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THE FLOW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PHASE 1 AT A GLANCE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9" name="Lead"/>
          <p:cNvSpPr txBox="1"/>
          <p:nvPr/>
        </p:nvSpPr>
        <p:spPr>
          <a:xfrm>
            <a:off x="457200" y="1228954"/>
            <a:ext cx="112772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to Lab Admin in about 2 minutes, on live lab stock.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533095" cy="219456"/>
          </a:xfrm>
          <a:prstGeom prst="roundRect">
            <a:avLst>
              <a:gd name="adj" fmla="val 41667"/>
            </a:avLst>
          </a:prstGeom>
          <a:solidFill>
            <a:srgbClr val="FCB0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837944"/>
            <a:ext cx="533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33295"/>
            <a:ext cx="173644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LOG IN</a:t>
            </a:r>
            <a:endParaRPr lang="en-US" sz="1500" dirty="0"/>
          </a:p>
        </p:txBody>
      </p:sp>
      <p:pic>
        <p:nvPicPr>
          <p:cNvPr id="13" name="Image 0" descr="Log 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86254"/>
            <a:ext cx="1736446" cy="1429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4" name="Text 11"/>
          <p:cNvSpPr txBox="1"/>
          <p:nvPr/>
        </p:nvSpPr>
        <p:spPr>
          <a:xfrm>
            <a:off x="457200" y="4028846"/>
            <a:ext cx="1736446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and password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365553" y="1837944"/>
            <a:ext cx="552298" cy="219456"/>
          </a:xfrm>
          <a:prstGeom prst="roundRect">
            <a:avLst>
              <a:gd name="adj" fmla="val 41667"/>
            </a:avLst>
          </a:prstGeom>
          <a:solidFill>
            <a:srgbClr val="FCB02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365553" y="1837944"/>
            <a:ext cx="552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365553" y="2133295"/>
            <a:ext cx="173644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 STOCK</a:t>
            </a:r>
            <a:endParaRPr lang="en-US" sz="1500" dirty="0"/>
          </a:p>
        </p:txBody>
      </p:sp>
      <p:pic>
        <p:nvPicPr>
          <p:cNvPr id="18" name="Image 1" descr="Check Stock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553" y="2486254"/>
            <a:ext cx="1736446" cy="1429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9" name="Text 15"/>
          <p:cNvSpPr txBox="1"/>
          <p:nvPr/>
        </p:nvSpPr>
        <p:spPr>
          <a:xfrm>
            <a:off x="2365553" y="4028846"/>
            <a:ext cx="1736446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hand for every part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73906" y="1837944"/>
            <a:ext cx="552298" cy="219456"/>
          </a:xfrm>
          <a:prstGeom prst="roundRect">
            <a:avLst>
              <a:gd name="adj" fmla="val 41667"/>
            </a:avLst>
          </a:prstGeom>
          <a:solidFill>
            <a:srgbClr val="FCB02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73906" y="1837944"/>
            <a:ext cx="552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273906" y="2133295"/>
            <a:ext cx="173644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BOM COMPARE</a:t>
            </a:r>
            <a:endParaRPr lang="en-US" sz="1500" dirty="0"/>
          </a:p>
        </p:txBody>
      </p:sp>
      <p:pic>
        <p:nvPicPr>
          <p:cNvPr id="23" name="Image 2" descr="BOM Compare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906" y="2486254"/>
            <a:ext cx="1736446" cy="1429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24" name="Text 19"/>
          <p:cNvSpPr txBox="1"/>
          <p:nvPr/>
        </p:nvSpPr>
        <p:spPr>
          <a:xfrm>
            <a:off x="4273906" y="4028846"/>
            <a:ext cx="173644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Excel BOM, see the gaps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81344" y="1837944"/>
            <a:ext cx="562356" cy="219456"/>
          </a:xfrm>
          <a:prstGeom prst="roundRect">
            <a:avLst>
              <a:gd name="adj" fmla="val 41667"/>
            </a:avLst>
          </a:prstGeom>
          <a:solidFill>
            <a:srgbClr val="FCB026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181344" y="1837944"/>
            <a:ext cx="562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4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181344" y="2133295"/>
            <a:ext cx="173644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RAISE REQUEST</a:t>
            </a:r>
            <a:endParaRPr lang="en-US" sz="1500" dirty="0"/>
          </a:p>
        </p:txBody>
      </p:sp>
      <p:pic>
        <p:nvPicPr>
          <p:cNvPr id="28" name="Image 3" descr="Raise Request 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486254"/>
            <a:ext cx="1736446" cy="1429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29" name="Text 23"/>
          <p:cNvSpPr txBox="1"/>
          <p:nvPr/>
        </p:nvSpPr>
        <p:spPr>
          <a:xfrm>
            <a:off x="6181344" y="4028846"/>
            <a:ext cx="173644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 and BOM lines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089697" y="1837944"/>
            <a:ext cx="552298" cy="219456"/>
          </a:xfrm>
          <a:prstGeom prst="roundRect">
            <a:avLst>
              <a:gd name="adj" fmla="val 41667"/>
            </a:avLst>
          </a:prstGeom>
          <a:solidFill>
            <a:srgbClr val="FCB02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089697" y="1837944"/>
            <a:ext cx="552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5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8089697" y="2133295"/>
            <a:ext cx="173644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MY REQUESTS</a:t>
            </a:r>
            <a:endParaRPr lang="en-US" sz="1500" dirty="0"/>
          </a:p>
        </p:txBody>
      </p:sp>
      <p:pic>
        <p:nvPicPr>
          <p:cNvPr id="33" name="Image 4" descr="My Requests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697" y="2486254"/>
            <a:ext cx="1736446" cy="1429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34" name="Text 27"/>
          <p:cNvSpPr txBox="1"/>
          <p:nvPr/>
        </p:nvSpPr>
        <p:spPr>
          <a:xfrm>
            <a:off x="8089697" y="4028846"/>
            <a:ext cx="1736446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status any time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9998050" y="1837944"/>
            <a:ext cx="552298" cy="219456"/>
          </a:xfrm>
          <a:prstGeom prst="roundRect">
            <a:avLst>
              <a:gd name="adj" fmla="val 41667"/>
            </a:avLst>
          </a:prstGeom>
          <a:solidFill>
            <a:srgbClr val="FCB026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9998050" y="1837944"/>
            <a:ext cx="552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6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9998050" y="2133295"/>
            <a:ext cx="173644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LAB ADMIN</a:t>
            </a:r>
            <a:endParaRPr lang="en-US" sz="1500" dirty="0"/>
          </a:p>
        </p:txBody>
      </p:sp>
      <p:pic>
        <p:nvPicPr>
          <p:cNvPr id="38" name="Image 5" descr="Lab Admin sc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8050" y="2486254"/>
            <a:ext cx="1736446" cy="14292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39" name="Text 31"/>
          <p:cNvSpPr txBox="1"/>
          <p:nvPr/>
        </p:nvSpPr>
        <p:spPr>
          <a:xfrm>
            <a:off x="9998050" y="4028846"/>
            <a:ext cx="1736446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sees it instantly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4922215"/>
            <a:ext cx="11277295" cy="4800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1" name="Shape 33"/>
          <p:cNvSpPr/>
          <p:nvPr/>
        </p:nvSpPr>
        <p:spPr>
          <a:xfrm>
            <a:off x="457200" y="4922215"/>
            <a:ext cx="75895" cy="48006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705002" y="4922215"/>
            <a:ext cx="1089690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end to end on the lab's real data before every release: login, stock search, BOM paste, request saved, Lab Admin sees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· everyone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· EVERYONE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WELCOME PAGE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Welcome pag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8572500" cy="481980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343400" y="38002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343400" y="38002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4343400" y="42199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343400" y="42199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343400" y="33531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343400" y="33531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239098" y="1304849"/>
            <a:ext cx="2495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96705" y="164774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96705" y="164774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629546" y="1647749"/>
            <a:ext cx="12115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login page.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9296705" y="208940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96705" y="208940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629546" y="2089404"/>
            <a:ext cx="204825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person asks for an account; the Lab Admin gives the role.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9296705" y="2693822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96705" y="2693822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629546" y="2693822"/>
            <a:ext cx="204825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portal does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stock, BOM compare and request tracking, in one line.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9239098" y="3307385"/>
            <a:ext cx="2495398" cy="773582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27" name="Shape 24"/>
          <p:cNvSpPr/>
          <p:nvPr/>
        </p:nvSpPr>
        <p:spPr>
          <a:xfrm>
            <a:off x="9239098" y="3307385"/>
            <a:ext cx="75895" cy="773582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448495" y="3402482"/>
            <a:ext cx="21717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sees lab data before logging in.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LOGIN PAGE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Login pag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8572500" cy="481980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276649" y="32196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276649" y="32196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4276649" y="36009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276649" y="36009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276649" y="412394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276649" y="412394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781398" y="49725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781398" y="49725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4276649" y="47146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276649" y="47146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6676949" y="14575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676949" y="14575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239098" y="1304849"/>
            <a:ext cx="2495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296705" y="164774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96705" y="164774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629546" y="1647749"/>
            <a:ext cx="204825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the Lab Admin set up, e.g. akshay.kakde.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9296705" y="2252167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96705" y="2252167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629546" y="2252167"/>
            <a:ext cx="2048256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icon shows or hides it. Empty password? You choose one on first login.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9296705" y="3020263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96705" y="3020263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9629546" y="3020263"/>
            <a:ext cx="19202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dashboard for your role.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9296705" y="346100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296705" y="346100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629546" y="3461004"/>
            <a:ext cx="204825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Password?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username and set a new password. No waiting for anyone.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9296705" y="4066337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96705" y="4066337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9629546" y="4066337"/>
            <a:ext cx="204825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 fills name, username and password; role starts as Pending.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9296705" y="467075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96705" y="467075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9629546" y="4670755"/>
            <a:ext cx="204825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Check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health checks of the data links, for support.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9239098" y="5284318"/>
            <a:ext cx="2495398" cy="773582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9239098" y="5284318"/>
            <a:ext cx="75895" cy="773582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448495" y="5379415"/>
            <a:ext cx="217170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lands on the Engineer dashboard.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ENGINEER DASHBOARD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Engineer dashboar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41929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524305" y="16578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524305" y="16578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1543507" y="20098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543507" y="20098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1543507" y="25722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543507" y="25722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390449" y="16578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90449" y="16578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3353105" y="12856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353105" y="12856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6344107" y="12856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344107" y="12856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271211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 plus the person's name and role.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347380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open requests, parts in catalogue, low stock, out of stock.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34235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opens the request detail. Open All lists everything.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20016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pages an engineer needs.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23445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Synced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refreshes itself; click to refresh now.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078224"/>
            <a:ext cx="130850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login page.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 sees their status at a glance.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 STOCK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Check Stock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36260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76402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6402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2457907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457907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3800246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800246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172407" y="20766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172407" y="20766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619902" y="21433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619902" y="21433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35240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number, description or store location; results as you type.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187245"/>
            <a:ext cx="20802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Wires, connectors, relays and so on.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659990"/>
            <a:ext cx="146486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stock, low, out of stock.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132734"/>
            <a:ext cx="323240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hand · Reserved ·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= on hand minus what is reserved for requests.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605479"/>
            <a:ext cx="247253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in stock, amber low, red out of stock.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95998" y="4078224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295998" y="4078224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05395" y="417332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stock for any of the 418 parts in seconds.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BOM COMPARE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BOM Compar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590702" y="20766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0702" y="20766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62356" y="29333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2356" y="29333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3791102" y="29333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791102" y="29333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95605" y="32580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95605" y="32580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676595" y="42007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676595" y="42007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5619902" y="40288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619902" y="40288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BOM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rows straight from the Excel BOM: Sr, part number, description, qty. Units like NOS are fine.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356409"/>
            <a:ext cx="38733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re-reads the latest stock and checks every line of the BOM.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82915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82915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829154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lines were read, parts compared, found in stock and new parts.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471977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471977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471977"/>
            <a:ext cx="377647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today, short, new parts and the estimated material value.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944722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944722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944722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per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· Shortage · Out of Stock · New Part, with on hand, reserved and short.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58663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58663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586630"/>
            <a:ext cx="30303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Part Request 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New Request with these lines already filled in.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5059375"/>
            <a:ext cx="4438498" cy="8001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5059375"/>
            <a:ext cx="75895" cy="8001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5154473"/>
            <a:ext cx="4114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seconds the engineer knows what the store can supply and what must be bought.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REQUEST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New Reques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590702" y="14100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0702" y="14100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62356" y="19147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2356" y="19147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95605" y="37152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605" y="37152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6105449" y="3819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105449" y="3819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781751" y="59051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781751" y="59051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Machine, project code, harness, stage, BU, cost centre, contacts, circuits, scope.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356409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Drop-downs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and business unit are picked, not typed, so reports stay clean.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999232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999232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999232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over from BOM Compare; the title says how many need purchasing.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641141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641141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641141"/>
            <a:ext cx="22585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BOM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BOM Compare to change lines.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4113886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4113886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4113886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fields checked, request number REQ-YYYY-NNNNN created, lines saved.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95998" y="4756709"/>
            <a:ext cx="4438498" cy="8001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295998" y="4756709"/>
            <a:ext cx="75895" cy="8001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05395" y="4851806"/>
            <a:ext cx="4114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saved with all lines; green confirmation and the engineer lands on My Requests.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MY REQUESTS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My Request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364845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524305" y="17428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524305" y="17428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2704795" y="17428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04795" y="17428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1524305" y="21625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524305" y="21625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1238098" y="23719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238098" y="23719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53198" y="1714500"/>
            <a:ext cx="283555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Submitted, approved, ready, released, completed.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753198" y="2187245"/>
            <a:ext cx="232349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harness, machine or requester.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753198" y="265999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top, status Submitted, with lines and short count. Click → full detail.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1095" y="330189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91095" y="330189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753198" y="3301898"/>
            <a:ext cx="22869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of my requests are still open.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5998" y="3774643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295998" y="3774643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05395" y="3869741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can track every request without asking the store.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6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6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REQUEST DETAIL · ENGINEER VIEW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Request detail · engineer view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543507" y="21241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543507" y="21241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90702" y="22293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0702" y="22293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2542946" y="40389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542946" y="40389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248302" y="4095598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248302" y="4095598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6105449" y="13048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105449" y="13048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380756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request is now: Submitted, Approved, Ready, Released.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187245"/>
            <a:ext cx="383133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Requester, harness, project, BU, contacts, required-by date, scope.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659990"/>
            <a:ext cx="34235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by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Requested, available, reserved, released and short per part.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132734"/>
            <a:ext cx="229880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Available, Partial, Shortage or New Part.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605479"/>
            <a:ext cx="141549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My Requests.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95998" y="4078224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295998" y="4078224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05395" y="417332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 for the requester: no calls to the store needed.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6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6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LAB ADMIN DASHBOARD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Lab Admin dashboar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543507" y="20098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543507" y="20098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1543507" y="25722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543507" y="25722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1543507" y="31336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543507" y="31336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1238098" y="21332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238098" y="21332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4667098" y="12856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667098" y="12856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requests, ready to release, purchase required, out of stock, low stock.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356409"/>
            <a:ext cx="3760013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and money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and POs in progress, licenses needing attention, stock value.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82915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82915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829154"/>
            <a:ext cx="336224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Your 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engineer's new request is here the moment it is saved.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30189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30189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301898"/>
            <a:ext cx="17154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Queue badge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1: one request waiting.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774643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774643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774643"/>
            <a:ext cx="22302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two roles switch view here.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95998" y="4247388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295998" y="4247388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05395" y="434248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sees new work the moment it is submitted.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6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6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REQUEST DETAIL · LAB ADMIN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Request detail · Lab Adm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562356" y="54196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62356" y="54196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1257300" y="54196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257300" y="54196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5391302" y="54196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391302" y="54196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3838651" y="3409798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838651" y="3409798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4248302" y="40197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248302" y="40197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2219249" y="24579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219249" y="24579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it with a reason in the history; the engineer still sees the record.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356409"/>
            <a:ext cx="339516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to Approved; the store can now reserve and release.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82915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82915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829154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Available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what is free for this request; what is short goes to Ongoing Purchase.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471977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471977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471977"/>
            <a:ext cx="204185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store cannot supply today.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944722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944722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944722"/>
            <a:ext cx="367405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Separately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a shortfall into its own request so the rest can be released.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417466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417466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417466"/>
            <a:ext cx="305958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circuits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 corrects the circuit count used for the cost.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890211"/>
            <a:ext cx="4438498" cy="8001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890211"/>
            <a:ext cx="75895" cy="8001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985309"/>
            <a:ext cx="4114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Admin can act immediately; shortfalls go to the purchase list automatically.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pages · already built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 · STORE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OTHER PAGES (1 OF 2)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Component Inventory screen">
            <a:hlinkClick r:id="rId2" tooltip="Open Component Inventory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4849"/>
            <a:ext cx="3594506" cy="161940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0" name="Text 7"/>
          <p:cNvSpPr txBox="1"/>
          <p:nvPr/>
        </p:nvSpPr>
        <p:spPr>
          <a:xfrm>
            <a:off x="457200" y="3038551"/>
            <a:ext cx="359450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COMPONENT INVENTORY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276295"/>
            <a:ext cx="35945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catalogue with store locations; Lab Admin edits locations.</a:t>
            </a:r>
            <a:endParaRPr lang="en-US" sz="1000" dirty="0"/>
          </a:p>
        </p:txBody>
      </p:sp>
      <p:pic>
        <p:nvPicPr>
          <p:cNvPr id="12" name="Image 1" descr="Material Inward screen">
            <a:hlinkClick r:id="rId4" tooltip="Open Material Inward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1304849"/>
            <a:ext cx="3594506" cy="161940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3" name="Text 9"/>
          <p:cNvSpPr txBox="1"/>
          <p:nvPr/>
        </p:nvSpPr>
        <p:spPr>
          <a:xfrm>
            <a:off x="4298594" y="3038551"/>
            <a:ext cx="359450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MATERIAL INWARD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298594" y="3276295"/>
            <a:ext cx="3594506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goods received (PO, FOC, return, scrap); stock updates at once.</a:t>
            </a:r>
            <a:endParaRPr lang="en-US" sz="1000" dirty="0"/>
          </a:p>
        </p:txBody>
      </p:sp>
      <p:pic>
        <p:nvPicPr>
          <p:cNvPr id="15" name="Image 2" descr="Stock Transactions screen">
            <a:hlinkClick r:id="rId6" tooltip="Open Stock Transactions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903" y="1304849"/>
            <a:ext cx="3594506" cy="161940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6" name="Text 11"/>
          <p:cNvSpPr txBox="1"/>
          <p:nvPr/>
        </p:nvSpPr>
        <p:spPr>
          <a:xfrm>
            <a:off x="8140903" y="3038551"/>
            <a:ext cx="359450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STOCK TRANSACTIONS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140903" y="3276295"/>
            <a:ext cx="35945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movement with date, reference and who issued it.</a:t>
            </a:r>
            <a:endParaRPr lang="en-US" sz="1000" dirty="0"/>
          </a:p>
        </p:txBody>
      </p:sp>
      <p:pic>
        <p:nvPicPr>
          <p:cNvPr id="18" name="Image 3" descr="High Demand Parts screen">
            <a:hlinkClick r:id="rId8" tooltip="Open High Demand Parts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33165"/>
            <a:ext cx="3594506" cy="161940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9" name="Text 13"/>
          <p:cNvSpPr txBox="1"/>
          <p:nvPr/>
        </p:nvSpPr>
        <p:spPr>
          <a:xfrm>
            <a:off x="457200" y="5566867"/>
            <a:ext cx="359450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HIGH DEMAND PARTS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5804611"/>
            <a:ext cx="35945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Most-issued parts for the chosen period, to plan buying.</a:t>
            </a:r>
            <a:endParaRPr lang="en-US" sz="1000" dirty="0"/>
          </a:p>
        </p:txBody>
      </p:sp>
      <p:pic>
        <p:nvPicPr>
          <p:cNvPr id="21" name="Image 4" descr="Brand New Purchase Part screen">
            <a:hlinkClick r:id="rId10" tooltip="Open Brand New Purchase Part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8594" y="3833165"/>
            <a:ext cx="3594506" cy="161940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22" name="Text 15"/>
          <p:cNvSpPr txBox="1"/>
          <p:nvPr/>
        </p:nvSpPr>
        <p:spPr>
          <a:xfrm>
            <a:off x="4298594" y="5566867"/>
            <a:ext cx="359450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BRAND NEW PURCHASE PART</a:t>
            </a:r>
            <a:endParaRPr lang="en-US" sz="1550" dirty="0"/>
          </a:p>
        </p:txBody>
      </p:sp>
      <p:sp>
        <p:nvSpPr>
          <p:cNvPr id="23" name="Text 16"/>
          <p:cNvSpPr txBox="1"/>
          <p:nvPr/>
        </p:nvSpPr>
        <p:spPr>
          <a:xfrm>
            <a:off x="4298594" y="5804611"/>
            <a:ext cx="35945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asks the lab to buy a part it has never stocked.</a:t>
            </a:r>
            <a:endParaRPr lang="en-US" sz="1000" dirty="0"/>
          </a:p>
        </p:txBody>
      </p:sp>
      <p:pic>
        <p:nvPicPr>
          <p:cNvPr id="24" name="Image 5" descr="New Purchase Parts screen">
            <a:hlinkClick r:id="rId12" tooltip="Open New Purchase Parts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0903" y="3833165"/>
            <a:ext cx="3594506" cy="161940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25" name="Text 17"/>
          <p:cNvSpPr txBox="1"/>
          <p:nvPr/>
        </p:nvSpPr>
        <p:spPr>
          <a:xfrm>
            <a:off x="8140903" y="5566867"/>
            <a:ext cx="359450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PURCHASE PARTS</a:t>
            </a:r>
            <a:endParaRPr lang="en-US" sz="1550" dirty="0"/>
          </a:p>
        </p:txBody>
      </p:sp>
      <p:sp>
        <p:nvSpPr>
          <p:cNvPr id="26" name="Text 18"/>
          <p:cNvSpPr txBox="1"/>
          <p:nvPr/>
        </p:nvSpPr>
        <p:spPr>
          <a:xfrm>
            <a:off x="8140903" y="5804611"/>
            <a:ext cx="35945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 and Manager approve or reject those requests.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Money, purchasing and admin · already built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 · MONEY AND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OTHER PAGES (2 OF 2)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Create Invoice screen">
            <a:hlinkClick r:id="rId2" tooltip="Open Create Invoic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8954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0" name="Text 7"/>
          <p:cNvSpPr txBox="1"/>
          <p:nvPr/>
        </p:nvSpPr>
        <p:spPr>
          <a:xfrm>
            <a:off x="457200" y="2295144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CREATE INVOICE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505456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card for a released request; finance-locked cost formula.</a:t>
            </a:r>
            <a:endParaRPr lang="en-US" sz="950" dirty="0"/>
          </a:p>
        </p:txBody>
      </p:sp>
      <p:pic>
        <p:nvPicPr>
          <p:cNvPr id="12" name="Image 1" descr="Invoices screen">
            <a:hlinkClick r:id="rId4" tooltip="Open Invoices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1228954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3" name="Text 9"/>
          <p:cNvSpPr txBox="1"/>
          <p:nvPr/>
        </p:nvSpPr>
        <p:spPr>
          <a:xfrm>
            <a:off x="4298594" y="2295144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INVOICES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298594" y="2505456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invoice raised; open, edit or issue.</a:t>
            </a:r>
            <a:endParaRPr lang="en-US" sz="950" dirty="0"/>
          </a:p>
        </p:txBody>
      </p:sp>
      <p:pic>
        <p:nvPicPr>
          <p:cNvPr id="15" name="Image 2" descr="Cost Sheet screen">
            <a:hlinkClick r:id="rId6" tooltip="Open Cost Sheet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903" y="1228954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6" name="Text 11"/>
          <p:cNvSpPr txBox="1"/>
          <p:nvPr/>
        </p:nvSpPr>
        <p:spPr>
          <a:xfrm>
            <a:off x="8140903" y="2295144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COST SHEET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8140903" y="2505456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a harness job: paste part, qty, cost.</a:t>
            </a:r>
            <a:endParaRPr lang="en-US" sz="950" dirty="0"/>
          </a:p>
        </p:txBody>
      </p:sp>
      <p:pic>
        <p:nvPicPr>
          <p:cNvPr id="18" name="Image 3" descr="Procurement (PR/PO) screen">
            <a:hlinkClick r:id="rId8" tooltip="Open Procurement (PR/PO)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79776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9" name="Text 13"/>
          <p:cNvSpPr txBox="1"/>
          <p:nvPr/>
        </p:nvSpPr>
        <p:spPr>
          <a:xfrm>
            <a:off x="457200" y="3846881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PROCUREMENT (PR/PO)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056278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to PO to delivery, one click per stage.</a:t>
            </a:r>
            <a:endParaRPr lang="en-US" sz="950" dirty="0"/>
          </a:p>
        </p:txBody>
      </p:sp>
      <p:pic>
        <p:nvPicPr>
          <p:cNvPr id="21" name="Image 4" descr="Ongoing Purchase screen">
            <a:hlinkClick r:id="rId10" tooltip="Open Ongoing Purchase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8594" y="2779776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22" name="Text 15"/>
          <p:cNvSpPr txBox="1"/>
          <p:nvPr/>
        </p:nvSpPr>
        <p:spPr>
          <a:xfrm>
            <a:off x="4298594" y="3846881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ONGOING PURCHASE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4298594" y="4056278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shortfalls in one list; what is on order.</a:t>
            </a:r>
            <a:endParaRPr lang="en-US" sz="950" dirty="0"/>
          </a:p>
        </p:txBody>
      </p:sp>
      <p:pic>
        <p:nvPicPr>
          <p:cNvPr id="24" name="Image 5" descr="Software Licenses screen">
            <a:hlinkClick r:id="rId12" tooltip="Open Software Licenses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0903" y="2779776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25" name="Text 17"/>
          <p:cNvSpPr txBox="1"/>
          <p:nvPr/>
        </p:nvSpPr>
        <p:spPr>
          <a:xfrm>
            <a:off x="8140903" y="3846881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SOFTWARE LICENSES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8140903" y="4056278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Seats, renewal dates and yearly cost.</a:t>
            </a:r>
            <a:endParaRPr lang="en-US" sz="950" dirty="0"/>
          </a:p>
        </p:txBody>
      </p:sp>
      <p:pic>
        <p:nvPicPr>
          <p:cNvPr id="27" name="Image 6" descr="Team Access screen">
            <a:hlinkClick r:id="rId14" tooltip="Open Team Access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331513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28" name="Text 19"/>
          <p:cNvSpPr txBox="1"/>
          <p:nvPr/>
        </p:nvSpPr>
        <p:spPr>
          <a:xfrm>
            <a:off x="457200" y="5398618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ACCESS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5608015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new people, password reset.</a:t>
            </a:r>
            <a:endParaRPr lang="en-US" sz="950" dirty="0"/>
          </a:p>
        </p:txBody>
      </p:sp>
      <p:pic>
        <p:nvPicPr>
          <p:cNvPr id="30" name="Image 7" descr="Manager Dashboard screen">
            <a:hlinkClick r:id="rId16" tooltip="Open Manager Dashboard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8594" y="4331513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31" name="Text 21"/>
          <p:cNvSpPr txBox="1"/>
          <p:nvPr/>
        </p:nvSpPr>
        <p:spPr>
          <a:xfrm>
            <a:off x="4298594" y="5398618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MANAGER DASHBOARD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4298594" y="5608015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Approvals, revenue, purchases, projects.</a:t>
            </a:r>
            <a:endParaRPr lang="en-US" sz="950" dirty="0"/>
          </a:p>
        </p:txBody>
      </p:sp>
      <p:pic>
        <p:nvPicPr>
          <p:cNvPr id="33" name="Image 8" descr="System Check screen">
            <a:hlinkClick r:id="rId18" tooltip="Open System Check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40903" y="4331513"/>
            <a:ext cx="3594506" cy="9902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34" name="Text 23"/>
          <p:cNvSpPr txBox="1"/>
          <p:nvPr/>
        </p:nvSpPr>
        <p:spPr>
          <a:xfrm>
            <a:off x="8140903" y="5398618"/>
            <a:ext cx="3594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SYSTEM CHECK</a:t>
            </a:r>
            <a:endParaRPr lang="en-US" sz="1350" dirty="0"/>
          </a:p>
        </p:txBody>
      </p:sp>
      <p:sp>
        <p:nvSpPr>
          <p:cNvPr id="35" name="Text 24"/>
          <p:cNvSpPr txBox="1"/>
          <p:nvPr/>
        </p:nvSpPr>
        <p:spPr>
          <a:xfrm>
            <a:off x="8140903" y="5608015"/>
            <a:ext cx="359450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health checks of the data links.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Lab Material Portal · Phase 1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 TODAY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399946"/>
            <a:ext cx="544799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57200" y="1772107"/>
            <a:ext cx="544799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00707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002" y="1923898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pilot: 3 engineers + Lab Admin, 2 weeks.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373782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5002" y="2296973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reserve → release → invoice live; manager dashboard.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746858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5002" y="2670962"/>
            <a:ext cx="5201107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Later: move the data from Excel to a SharePoint list for more users and rows.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286500" y="1399946"/>
            <a:ext cx="544799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ASK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286500" y="1772107"/>
            <a:ext cx="544799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0" y="2000707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4302" y="1923898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 start the Phase 1 pilot.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86500" y="2373782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4302" y="2296973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of the 3 pilot engineers.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86500" y="2746858"/>
            <a:ext cx="105156" cy="10515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4302" y="2670962"/>
            <a:ext cx="5201107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meeting at the end of the 2 weeks.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3569818"/>
            <a:ext cx="11277295" cy="4800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69818"/>
            <a:ext cx="75895" cy="48006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5002" y="3569818"/>
            <a:ext cx="1089690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one slide for every page of the app, for questions.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PAGE IN DETAIL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9" name="Band"/>
          <p:cNvSpPr/>
          <p:nvPr/>
        </p:nvSpPr>
        <p:spPr>
          <a:xfrm>
            <a:off x="0" y="0"/>
            <a:ext cx="171907" cy="68580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10" name="Lead"/>
          <p:cNvSpPr txBox="1"/>
          <p:nvPr/>
        </p:nvSpPr>
        <p:spPr>
          <a:xfrm>
            <a:off x="457200" y="1228954"/>
            <a:ext cx="112772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per page, for questions. Click a page name to jump to 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16669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2298" y="16669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Open Regis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38298" y="16669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86707" y="16669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1805" y="16669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19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Open Set or reset passwo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 or reset password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67805" y="16669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15300" y="16669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0398" y="16669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Open System Che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Check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496398" y="16669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0665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2298" y="20665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Open Request Que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Request Queue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38298" y="20665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86707" y="20665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1805" y="20665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22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Open Component Invent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 Inventory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67805" y="20665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15300" y="20665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0398" y="20665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23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Open Material Inw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Material Inward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496398" y="20665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4670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2298" y="24670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Open Stock Transa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Stock Transactions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838298" y="24670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86707" y="24670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1805" y="24670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25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Open High Demand Par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 Demand Parts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67805" y="24670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15300" y="24670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10398" y="24670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26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Open Brand New Purchase P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 New Purchase Part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496398" y="24670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8666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2298" y="28666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27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Open New Purchase Par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Purchase Parts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838298" y="28666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 / Manager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86707" y="28666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81805" y="28666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28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Open Create Invo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Invoice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667805" y="28666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15300" y="28666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10398" y="28666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29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Open Invo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Invoices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496398" y="28666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2671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2298" y="32671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 tooltip="Open Cost She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 Sheet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2838298" y="32671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86707" y="32671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381805" y="32671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31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Open Procurement (PR / P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Procurement (PR / PO)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667805" y="32671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15300" y="32671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10398" y="32671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 tooltip="Open Ongoing Purcha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Ongoing Purchase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0496398" y="32671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36667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2298" y="36667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33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Open Software Licen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Licenses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2838298" y="36667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86707" y="36667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381805" y="36667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34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Open Team Acc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 Access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667805" y="36667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 / Lab Lead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15300" y="3666744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10398" y="3666744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35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Open Manager Dash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Manager Dashboard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0496398" y="3666744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40672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52298" y="40672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36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9" action="ppaction://hlinksldjump" tooltip="Open About · Data Heal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· Data Health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2838298" y="40672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286707" y="4067251"/>
            <a:ext cx="3619195" cy="32369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E6E4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381805" y="4067251"/>
            <a:ext cx="238109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37   </a:t>
            </a:r>
            <a:pPr indent="0" marL="0">
              <a:buNone/>
            </a:pPr>
            <a:r>
              <a:rPr lang="en-US" sz="11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Open Print / PD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Print / PDF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667805" y="4067251"/>
            <a:ext cx="11430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Login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LOGIN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REGISTER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Register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432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143000" y="27816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43000" y="27816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3581705" y="27816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581705" y="27816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3581705" y="33055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81705" y="33055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1143000" y="38295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143000" y="38295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1143000" y="45335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143000" y="45335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3581705" y="45335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581705" y="45335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274502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 requests and the dashboard greeting.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165140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person logs in with.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147949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Unit · 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Optional; used on reports.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122529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+ confirm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4 characters.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person with role Pending; the Lab Admin sets the role in Team Access.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24738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24738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247388"/>
            <a:ext cx="85039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720133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720133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815230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people get in without a form or a mail chain.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Login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LOGIN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SET OR RESET PASSWORD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Set or reset passwor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4324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285646" y="30294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285646" y="30294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1285646" y="35149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285646" y="35149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895198" y="41906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95198" y="41906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895198" y="4962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95198" y="4962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53198" y="1714500"/>
            <a:ext cx="12079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4 characters.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753198" y="2187245"/>
            <a:ext cx="70043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match.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753198" y="2659990"/>
            <a:ext cx="31949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Log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saved scrambled; the person goes straight in.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753198" y="3132734"/>
            <a:ext cx="12298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login box.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5998" y="3605479"/>
            <a:ext cx="4438498" cy="8001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295998" y="3605479"/>
            <a:ext cx="75895" cy="8001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05395" y="3700577"/>
            <a:ext cx="4114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 and first login both end here. No waiting for an admin.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Support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SUPPORT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SYSTEM CHECK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System Check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19069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629107" y="17053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29107" y="17053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695798" y="1828800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95798" y="1828800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609905" y="4962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9905" y="4962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1886407" y="4962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886407" y="4962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table connected and read, stock calculation, BOM reader test, last refresh.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753198" y="2356409"/>
            <a:ext cx="25155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per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row not OK points to the exact problem.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91095" y="282915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91095" y="282915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753198" y="2829154"/>
            <a:ext cx="149413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All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Re-reads every table now.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1095" y="330189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91095" y="330189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753198" y="3301898"/>
            <a:ext cx="14730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login page.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5998" y="3774643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295998" y="3774643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05395" y="3869741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screenshot tells support what is wrong.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REQUEST QUEUE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Request Queu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364845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1524305" y="17428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524305" y="17428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2704795" y="17428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04795" y="17428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1524305" y="21625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524305" y="21625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1238098" y="18004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238098" y="18004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53198" y="1714500"/>
            <a:ext cx="345917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Submitted, approved, ready for release, purchase required…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753198" y="2187245"/>
            <a:ext cx="232349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harness, machine or requester.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753198" y="2659990"/>
            <a:ext cx="31089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Lines, short count, status, date. Click → request detail.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753198" y="3132734"/>
            <a:ext cx="1580083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waiting for action.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5998" y="360547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295998" y="360547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05395" y="3700577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store's to-do list, oldest first.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COMPONENT INVENTORY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Component Inventory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56285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76402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6402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029200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029200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3514954" y="25429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14954" y="25429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5391302" y="13624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391302" y="13624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6077102" y="13624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077102" y="13624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159379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Part, description or location.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187245"/>
            <a:ext cx="279440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parts with missing or odd data in the sheet.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659990"/>
            <a:ext cx="345277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Admin types the shelf location in the row; saved at once.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132734"/>
            <a:ext cx="369234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number, description, category, UOM, location, supplier, cost.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605479"/>
            <a:ext cx="246613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an obsolete part out of the active list.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95998" y="4078224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295998" y="4078224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05395" y="417332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catalogue stays correct without opening Excel.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MATERIAL INWARD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Material Inwar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562356" y="23052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62356" y="23052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62356" y="2676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2356" y="2676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2609698" y="2676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609698" y="2676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667098" y="26764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67098" y="26764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62356" y="3409798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62356" y="3409798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5619902" y="36960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619902" y="36960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24953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the catalogue as you type.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139354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more than zero.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24231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PO, FOC, Return, Adjust+, Adjust−, Scrap.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112928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number or note.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207294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 adjustments and scrap.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078224"/>
            <a:ext cx="289499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Receipt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 stock movement; on hand updates at once.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goes up only through this page, so every unit is traceable.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STOCK TRANSACTIONS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Stock Transaction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56285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76402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6402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2743200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43200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6286500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86500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95605" y="24478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95605" y="24478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53198" y="1714500"/>
            <a:ext cx="255209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Part, harness, machine, person or reference.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753198" y="2187245"/>
            <a:ext cx="252283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Receipt, release, return, adjustments, scrap.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753198" y="2659990"/>
            <a:ext cx="99303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Resets the filters.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753198" y="3132734"/>
            <a:ext cx="310713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part, quantity, reference, unit cost and who did it.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5998" y="360547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295998" y="360547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05395" y="3700577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of every unit in and out.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HIGH DEMAND PARTS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High Demand Part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36260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819302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19302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2048256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048256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95605" y="22475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605" y="22475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753198" y="1714500"/>
            <a:ext cx="280903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90 days, 180 days, 12 months or everything.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753198" y="2187245"/>
            <a:ext cx="107899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or description.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2659990"/>
            <a:ext cx="34161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Most-issued parts first, with stock status and last issue date.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95998" y="3132734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27" name="Shape 24"/>
          <p:cNvSpPr/>
          <p:nvPr/>
        </p:nvSpPr>
        <p:spPr>
          <a:xfrm>
            <a:off x="7295998" y="3132734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505395" y="322783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ahead for the parts every build uses.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Engineer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ENGINEER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BRAND NEW PURCHASE PART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Brand New Purchase Par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257300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257300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619902" y="32580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19902" y="32580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95605" y="40389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605" y="40389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5619902" y="55440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19902" y="55440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495605" y="58768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95605" y="58768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286298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details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category, make, model, UOM, HSN, specs.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187245"/>
            <a:ext cx="19156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new parts in one request.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659990"/>
            <a:ext cx="175839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in this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or remove before sending.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132734"/>
            <a:ext cx="337413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to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request goes to the New Purchase Parts queue.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605479"/>
            <a:ext cx="197327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New Part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of everything you asked for.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95998" y="4078224"/>
            <a:ext cx="4438498" cy="8001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295998" y="4078224"/>
            <a:ext cx="75895" cy="8001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505395" y="4173322"/>
            <a:ext cx="4114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ask for parts the lab has never stocked, in a fixed format.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 / Manager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 / MANAGER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PURCHASE PARTS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New Purchase Part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36260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76402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6402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1705356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705356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5790895" y="23618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790895" y="23618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6219749" y="23618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219749" y="23618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53198" y="1714500"/>
            <a:ext cx="20802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Submitted, approved, rejected, draft.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753198" y="2187245"/>
            <a:ext cx="22585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requester, part, make or HSN.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753198" y="2659990"/>
            <a:ext cx="386059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approved; add it to the catalogue once it has a part number.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753198" y="3132734"/>
            <a:ext cx="2151583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rejected; the engineer sees it.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5998" y="360547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295998" y="360547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05395" y="3700577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new-part request is decided in one place.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CREATE INVOICE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Create Invoic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2609698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609698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3857854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857854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5648249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648249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6105449" y="45153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105449" y="45153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90702" y="48198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0702" y="48198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122163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until it is issued.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187245"/>
            <a:ext cx="22731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job details from a released request.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659990"/>
            <a:ext cx="20299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BOM from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lines with qty and unit cost.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132734"/>
            <a:ext cx="13222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material by hand.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605479"/>
            <a:ext cx="197601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 × cost per line, total in the title.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753198" y="4078224"/>
            <a:ext cx="378104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Invoice · Print / 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bottom: saves with a unique number and prints the job card.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0" name="Shape 37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invoice built from what was really released.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INVOICES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Invoice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8006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476402" y="252374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76402" y="252374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1591056" y="252374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591056" y="252374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5609844" y="30193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09844" y="30193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952744" y="30193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52744" y="30193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6267298" y="30193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67298" y="30193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267370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billed value, this financial year, drafts.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87233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or issued.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239389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Invoice, BU, harness, request or recipient.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117226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view and print.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20583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Create Invoice with its lines.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078224"/>
            <a:ext cx="89336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it issued.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lab invoices in one list.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COST SHEET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Cost Shee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562356" y="17721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62356" y="17721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533949" y="2609698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533949" y="2609698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590702" y="39913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90702" y="39913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6105449" y="36859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105449" y="36859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90702" y="5648249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0702" y="5648249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53198" y="1714500"/>
            <a:ext cx="151516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job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or invoice to cost.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53198" y="2187245"/>
            <a:ext cx="265907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circuits is the only field you change.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753198" y="2659990"/>
            <a:ext cx="182057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Part, qty, cost per unit, line cost.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753198" y="3132734"/>
            <a:ext cx="6629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lines.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753198" y="3605479"/>
            <a:ext cx="300380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Part, qty, cost straight from Excel; Load These Lines.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753198" y="4078224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· Print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Below: labour and overheads from the finance-locked assumptions; print both.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95998" y="4720133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0" name="Shape 37"/>
          <p:cNvSpPr/>
          <p:nvPr/>
        </p:nvSpPr>
        <p:spPr>
          <a:xfrm>
            <a:off x="7295998" y="4720133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505395" y="4815230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quote for a harness job in minutes.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PROCUREMENT (PR / PO)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Procurement (PR / PO)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715000" y="13624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715000" y="13624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76402" y="252374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76402" y="252374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5076749" y="32863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076749" y="32863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6295644" y="32863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95644" y="32863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495605" y="55440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95605" y="55440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PRs/POs in progress, purchase orders, FOC receipts, committed value.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356409"/>
            <a:ext cx="222747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PR / PO Entry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number, summary, vendor, amount.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82915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82915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829154"/>
            <a:ext cx="333024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raised, approved, PO raised, GRN, delivered, rejected.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30189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30189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301898"/>
            <a:ext cx="206563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button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moves it to the next stage.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774643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774643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774643"/>
            <a:ext cx="85770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PR.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24738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24738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247388"/>
            <a:ext cx="252283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Shortages waiting for a 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open requests, so nothing is forgotten.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720133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720133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815230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purchase tracked from PR to delivery.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ONGOING PURCHASE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Ongoing Purchas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020056" y="25530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020056" y="25530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6001207" y="29910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01207" y="29910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76402" y="45153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76402" y="45153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781751" y="52770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781751" y="52770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5715000" y="13624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715000" y="13624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310713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short now, on the purchase list, total shortfall qty.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26014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All Shortfalls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every open shortfall on the purchase list.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143652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part for one request.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2951683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Required, PR raised, PO raised, in transit, received.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16011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Supplier, PR number, stage.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078224"/>
            <a:ext cx="20583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Purchase 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something not tied to a request.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short across all requests, and what is already on order.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SOFTWARE LICENSES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Software License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009644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7812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7812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886907" y="13624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886907" y="13624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95605" y="28858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605" y="28858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753198" y="1714500"/>
            <a:ext cx="348843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 tracked, need attention, seats in use, annual spend.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753198" y="2187245"/>
            <a:ext cx="192755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License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vendor, seats, expiry, cost.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2659990"/>
            <a:ext cx="168706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seats or dates in the row.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95998" y="3132734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27" name="Shape 24"/>
          <p:cNvSpPr/>
          <p:nvPr/>
        </p:nvSpPr>
        <p:spPr>
          <a:xfrm>
            <a:off x="7295998" y="3132734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505395" y="322783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renewal is missed.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 / Lab Lead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 / LAB LEAD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ACCESS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Team Acces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362602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76402" y="18571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6402" y="18571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2409444" y="23527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409444" y="23527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1429207" y="23527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429207" y="23527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886554" y="23527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86554" y="23527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781751" y="23527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781751" y="23527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5886907" y="13624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886907" y="13624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205099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username, role, BU or email.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318119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Drop-down incl. combined roles like Engineer, Manager.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1107338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BU · 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 the row.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287304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or Not Set; the password itself is never shown.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305958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Clears it; the person chooses a new one at next login.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078224"/>
            <a:ext cx="1420063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Person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user directly.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see what, managed without opening Excel.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Manager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MANAGER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MANAGER DASHBOARD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Manager Dashboar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257300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257300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562356" y="2343607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2356" y="2343607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95605" y="271485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605" y="271485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495605" y="39246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95605" y="39246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3676802" y="39246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676802" y="39246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3676802" y="57433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676802" y="57433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356616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Materials, licenses, low / out of stock, invoices, calibration due.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187245"/>
            <a:ext cx="232989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tabs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requests, brand new parts, PRs.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659990"/>
            <a:ext cx="160111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your approval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in the row.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13273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13273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132734"/>
            <a:ext cx="174376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value by business unit.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60547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60547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605479"/>
            <a:ext cx="1421892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PO / delivered bars.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07822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07822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078224"/>
            <a:ext cx="136519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and upcoming.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550969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550969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646066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manager's whole picture on one page.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ABOUT · DATA HEALTH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About · Data Health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49533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495605" y="129570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5605" y="129570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495605" y="2018995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95605" y="2018995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4486046" y="36859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486046" y="36859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Hotspot 4"/>
          <p:cNvSpPr/>
          <p:nvPr/>
        </p:nvSpPr>
        <p:spPr>
          <a:xfrm>
            <a:off x="5619902" y="368594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19902" y="368594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Hotspot 5"/>
          <p:cNvSpPr/>
          <p:nvPr/>
        </p:nvSpPr>
        <p:spPr>
          <a:xfrm>
            <a:off x="562356" y="4591202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62356" y="4591202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Hotspot 6"/>
          <p:cNvSpPr/>
          <p:nvPr/>
        </p:nvSpPr>
        <p:spPr>
          <a:xfrm>
            <a:off x="5619902" y="5667451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619902" y="5667451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1714500"/>
            <a:ext cx="38862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stock, request to release, approvals, cost and invoices in four lines.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91095" y="2356409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91095" y="2356409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753198" y="2356409"/>
            <a:ext cx="235183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Health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in the sheet vs rows the app reads.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91095" y="2829154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91095" y="2829154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53198" y="2829154"/>
            <a:ext cx="1243584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System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18-row check.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91095" y="330189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91095" y="330189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53198" y="3301898"/>
            <a:ext cx="115031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 Now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every table.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91095" y="3774643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91095" y="3774643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7753198" y="3774643"/>
            <a:ext cx="3366821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one 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how one part number is read, to catch typing errors.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91095" y="4247388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91095" y="4247388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753198" y="4247388"/>
            <a:ext cx="2265883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Photo Storage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harness photos can be saved.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5998" y="4720133"/>
            <a:ext cx="4438498" cy="8001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42" name="Shape 39"/>
          <p:cNvSpPr/>
          <p:nvPr/>
        </p:nvSpPr>
        <p:spPr>
          <a:xfrm>
            <a:off x="7295998" y="4720133"/>
            <a:ext cx="75895" cy="800100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05395" y="4815230"/>
            <a:ext cx="41148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can prove the data is complete without opening the workbook.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CB logo"/>
          <p:cNvSpPr/>
          <p:nvPr/>
        </p:nvSpPr>
        <p:spPr>
          <a:xfrm>
            <a:off x="11182198" y="6515100"/>
            <a:ext cx="533095" cy="267005"/>
          </a:xfrm>
          <a:prstGeom prst="roundRect">
            <a:avLst>
              <a:gd name="adj" fmla="val 17123"/>
            </a:avLst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JCB logo square"/>
          <p:cNvSpPr/>
          <p:nvPr/>
        </p:nvSpPr>
        <p:spPr>
          <a:xfrm>
            <a:off x="11239805" y="6572707"/>
            <a:ext cx="66751" cy="66751"/>
          </a:xfrm>
          <a:prstGeom prst="rect">
            <a:avLst/>
          </a:prstGeom>
          <a:solidFill>
            <a:srgbClr val="FCB02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JCB logo text"/>
          <p:cNvSpPr txBox="1"/>
          <p:nvPr/>
        </p:nvSpPr>
        <p:spPr>
          <a:xfrm>
            <a:off x="11324844" y="6515100"/>
            <a:ext cx="3712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JCB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534302"/>
            <a:ext cx="66678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900" dirty="0"/>
          </a:p>
        </p:txBody>
      </p:sp>
      <p:sp>
        <p:nvSpPr>
          <p:cNvPr id="6" name="Kicker"/>
          <p:cNvSpPr txBox="1"/>
          <p:nvPr/>
        </p:nvSpPr>
        <p:spPr>
          <a:xfrm>
            <a:off x="457200" y="286207"/>
            <a:ext cx="112772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LAB ADMIN</a:t>
            </a:r>
            <a:endParaRPr lang="en-US" sz="1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4956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PRINT / PDF</a:t>
            </a:r>
            <a:endParaRPr lang="en-US" sz="3200" dirty="0"/>
          </a:p>
        </p:txBody>
      </p:sp>
      <p:sp>
        <p:nvSpPr>
          <p:cNvPr id="8" name="Title rule"/>
          <p:cNvSpPr/>
          <p:nvPr/>
        </p:nvSpPr>
        <p:spPr>
          <a:xfrm>
            <a:off x="457200" y="1019556"/>
            <a:ext cx="800100" cy="57607"/>
          </a:xfrm>
          <a:prstGeom prst="rect">
            <a:avLst/>
          </a:prstGeom>
          <a:solidFill>
            <a:srgbClr val="FCB026"/>
          </a:solidFill>
          <a:ln/>
        </p:spPr>
      </p:sp>
      <p:pic>
        <p:nvPicPr>
          <p:cNvPr id="9" name="Image 0" descr="Print / PDF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5646"/>
            <a:ext cx="6572707" cy="369600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pic>
      <p:sp>
        <p:nvSpPr>
          <p:cNvPr id="10" name="Hotspot 1"/>
          <p:cNvSpPr/>
          <p:nvPr/>
        </p:nvSpPr>
        <p:spPr>
          <a:xfrm>
            <a:off x="381305" y="126644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81305" y="126644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Hotspot 2"/>
          <p:cNvSpPr/>
          <p:nvPr/>
        </p:nvSpPr>
        <p:spPr>
          <a:xfrm>
            <a:off x="923544" y="1266444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23544" y="1266444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Hotspot 3"/>
          <p:cNvSpPr/>
          <p:nvPr/>
        </p:nvSpPr>
        <p:spPr>
          <a:xfrm>
            <a:off x="629107" y="3191256"/>
            <a:ext cx="286207" cy="286207"/>
          </a:xfrm>
          <a:prstGeom prst="ellipse">
            <a:avLst/>
          </a:prstGeom>
          <a:solidFill>
            <a:srgbClr val="FCB026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9107" y="3191256"/>
            <a:ext cx="286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95998" y="1304849"/>
            <a:ext cx="443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CLICK → WHAT HAPPENS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91095" y="171450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91095" y="171450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753198" y="1714500"/>
            <a:ext cx="2050999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invoice or cost sheet.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91095" y="2187245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91095" y="2187245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753198" y="2187245"/>
            <a:ext cx="1622146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/ Save as 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print: paper or PDF.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91095" y="2659990"/>
            <a:ext cx="247802" cy="247802"/>
          </a:xfrm>
          <a:prstGeom prst="ellipse">
            <a:avLst/>
          </a:prstGeom>
          <a:solidFill>
            <a:srgbClr val="FCB02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91095" y="2659990"/>
            <a:ext cx="247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753198" y="2659990"/>
            <a:ext cx="2809037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page with the job card or cost sheet tables.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95998" y="3132734"/>
            <a:ext cx="4438498" cy="599846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27" name="Shape 24"/>
          <p:cNvSpPr/>
          <p:nvPr/>
        </p:nvSpPr>
        <p:spPr>
          <a:xfrm>
            <a:off x="7295998" y="3132734"/>
            <a:ext cx="75895" cy="599846"/>
          </a:xfrm>
          <a:prstGeom prst="rect">
            <a:avLst/>
          </a:prstGeom>
          <a:solidFill>
            <a:srgbClr val="FCB02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505395" y="322783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paper copy for the job file.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7000" y="6534302"/>
            <a:ext cx="761695" cy="20939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S Lab Portal">
  <a:themeElements>
    <a:clrScheme name="EDS Lab Portal">
      <a:dk1>
        <a:srgbClr val="111111"/>
      </a:dk1>
      <a:lt1>
        <a:srgbClr val="FFFFFF"/>
      </a:lt1>
      <a:dk2>
        <a:srgbClr val="333333"/>
      </a:dk2>
      <a:lt2>
        <a:srgbClr val="F6F5F2"/>
      </a:lt2>
      <a:accent1>
        <a:srgbClr val="FCB026"/>
      </a:accent1>
      <a:accent2>
        <a:srgbClr val="F39C12"/>
      </a:accent2>
      <a:accent3>
        <a:srgbClr val="6B6B6B"/>
      </a:accent3>
      <a:accent4>
        <a:srgbClr val="2E7D32"/>
      </a:accent4>
      <a:accent5>
        <a:srgbClr val="C62828"/>
      </a:accent5>
      <a:accent6>
        <a:srgbClr val="1565C0"/>
      </a:accent6>
      <a:hlink>
        <a:srgbClr val="111111"/>
      </a:hlink>
      <a:folHlink>
        <a:srgbClr val="333333"/>
      </a:folHlink>
    </a:clrScheme>
    <a:fontScheme name="EDS Lab Portal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JCB India · EDS Lab, Pune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EDS Lab Material Portal · Walkthrough</dc:title>
  <dc:subject>PptxGenJS Presentation</dc:subject>
  <dc:creator>Gaurav Shelke</dc:creator>
  <cp:lastModifiedBy>Gaurav Shelke</cp:lastModifiedBy>
  <cp:revision>1</cp:revision>
  <dcterms:created xsi:type="dcterms:W3CDTF">2026-10-16T06:26:24Z</dcterms:created>
  <dcterms:modified xsi:type="dcterms:W3CDTF">2026-10-16T06:26:24Z</dcterms:modified>
</cp:coreProperties>
</file>